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CE3023-550A-499C-B376-C84485BD15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87FAB6-D0C5-43EE-8E2B-A89F8EC027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1703A5E-54F6-4DD8-AC54-19C1740D18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73F951D-74A2-4112-908B-0582E9069F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F370B4F-E535-4FE6-9360-C362502505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501C5FC-6506-47F3-A6C3-3BEEC6D5EC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6E23DD6-A420-4FD4-9462-1B444EA52E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416A284-BE5F-4F6C-91C9-EDF91679D3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C78C55A-6615-441A-9D36-B1684E1B39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5B3085B-00BA-425F-9051-F38DE68B2D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DFD39E3-3F3E-41AC-A036-3CD45648E6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8F2837-D583-41D2-B117-84BA9AED69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0E37CF-9E47-4A0A-9B2D-5B31E0B740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3BF3EC-8BD4-44A8-997A-87CDE17E02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90BDFE-E342-46EE-8103-781BF71247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59D17E-4220-4C29-8BC0-F9C223F1F5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476811-C279-46A6-BBE5-29703C6592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F439C0-8DE1-4B45-A175-00A94B46E0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B7F888-6A9C-4017-A692-B33FBDBB09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5CDDA7-9867-40DF-8572-3BE2DCA944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9031B9-71ED-4F70-9045-225A82243B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A358DE-593A-4CB1-AA01-023E942E76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097280" y="1645920"/>
            <a:ext cx="10058040" cy="28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284c7"/>
                </a:solidFill>
                <a:latin typeface="Calibri"/>
              </a:rPr>
              <a:t>NEXTHIKES MACHINE LEARNING &amp; MLOPS CHALLENGE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Rossmann Store Sales Forecasting Across Multiple Retail Stores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0"/>
              </a:spcAft>
            </a:pPr>
            <a:r>
              <a:rPr b="0" lang="en-US" sz="1800" spc="-1" strike="noStrike">
                <a:solidFill>
                  <a:srgbClr val="94a3b8"/>
                </a:solidFill>
                <a:latin typeface="Calibri"/>
              </a:rPr>
              <a:t>End-to-End Predictive Machine Learning Pipelines, 2-Layer Deep Learning LSTM, MLflow Tracking &amp; Web Serving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0b981"/>
                </a:solidFill>
                <a:latin typeface="Calibri"/>
              </a:rPr>
              <a:t>Sweety Masmiya | September 2026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PROJECT OVERVIEW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Business Need &amp; End-to-End Project Architecture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914400" y="1737360"/>
            <a:ext cx="4754520" cy="33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The Business Imperative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Client Context: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Rossmann Pharmaceuticals operates 1,115+ stores across several cities in Germany.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The Core Problem: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Individual store managers currently rely on personal judgment and experience to forecast sales, leading to inventory misallocation.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Project Mandate: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Build a unified, automated forecasting system delivering daily sales projections 6 weeks in advance.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Dual Target: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Forecast daily turnover (€) and predict expected customer footfall.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Key Drivers: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Promotions, competition distance, holiday schedules, store assortment tiers, and regional seasonality.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6217920" y="155448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400800" y="1737360"/>
            <a:ext cx="4845960" cy="37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Modular Solution Architecture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Task 1 (EDA):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Cleaned data, handled outliers, and answered 11 business behavior questions with rigorous statistical validation.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Task 2.1 - 2.5 (ML Pipeline):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Engineered temporal &amp; holiday features; built modular Scikit-Learn Pipeline; defended RMSPE loss; serialized models with timestamps.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Task 2.6 (Deep Learning):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Stationarity check (ADF test), differencing, ACF/PACF, sliding window matrix, and 2-layer Keras LSTM regression.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Task 2.7 (MLflow MLOps):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Tracked experiments, logged parameters &amp; metrics, and served predictions via MLflow.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Task 3 (Serving App):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Streamlit dashboard supporting batch CSV upload, single forecasts, dual outputs, and CSV download.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CUSTOMER PURCHASING BEHAVIOUR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1 (1/4): Promotional Dynamics &amp; Basket Size Uplift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914400" y="1737360"/>
            <a:ext cx="4754520" cy="35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Key Findings: Promo Lift &amp; Parity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Distribution Parity (Q1):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Promotions are distributed almost identically: Train = 38.15%, Test = 39.58%. No distribution shift between train and test windows.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Substantial Sales Lift (Q5):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Promotions drive a +40.3% increase in mean daily sales across all open store days.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Footfall Surge (Q5):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Promotions attract +31.2% more daily customers, confirming high acquisition power.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Basket Size Expansion (Q5):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Sales per Customer expands from €7.82 to €8.54 (+9.2%), proving promotions attract new shoppers AND expand cart values.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Deployment Strategy (Q6):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StoreType 'd' and 'a' experience the highest percentage promo uplifts (&gt;42%), while Assortment 'c' (Extended) benefits most.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4" descr="q1_promo_distribution.png"/>
          <p:cNvPicPr/>
          <p:nvPr/>
        </p:nvPicPr>
        <p:blipFill>
          <a:blip r:embed="rId1"/>
          <a:stretch/>
        </p:blipFill>
        <p:spPr>
          <a:xfrm>
            <a:off x="6217920" y="1554480"/>
            <a:ext cx="5211720" cy="335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CUSTOMER PURCHASING BEHAVIOUR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1 (2/4): Holiday Stockpiling &amp; Calendar Seasonality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914400" y="1737360"/>
            <a:ext cx="4754520" cy="41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Holiday &amp; Seasonality Dynamics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Stockpiling Phenomenon (Q2):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Daily sales surge by +34.8% in the 3 days preceding State Holidays. Households aggressively stockpile prescription refills and medicines.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Holiday Store Closures (Q2):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During state holidays, sales plunge sharply as &gt;95% of stores are legally mandated to close.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Post-Holiday Recovery (Q2):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Demand rebounds briskly (+12% above regular baseline) in the 3 days immediately following a holiday.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Annual Winter Surge (Q3):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December exhibits massive sales volume driven by Christmas gifting, seasonal winter ailments (flu/colds), and expiring annual healthcare flex benefits.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Easter &amp; Summer Patterns (Q3):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Distinct secondary lifts occur in March/April (Easter) and ahead of school summer holiday travel.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4" descr="q2_holiday_behavior.png"/>
          <p:cNvPicPr/>
          <p:nvPr/>
        </p:nvPicPr>
        <p:blipFill>
          <a:blip r:embed="rId1"/>
          <a:stretch/>
        </p:blipFill>
        <p:spPr>
          <a:xfrm>
            <a:off x="6217920" y="1554480"/>
            <a:ext cx="5211720" cy="293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CUSTOMER PURCHASING BEHAVIOUR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1 (3/4): Customer Correlation &amp; Weekly Operating Trends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914400" y="1737360"/>
            <a:ext cx="4754520" cy="39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Footfall &amp; Operating Insights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Dominant Correlation (Q4):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Very strong positive linear correlation between Sales and Customer count (Pearson r = 0.89, Spearman rho = 0.91).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Primary Revenue Driver (Q4):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Customer volume is the primary determinant of store turnover; store formats that maximize visitor flow generate peak sales.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Day-of-Week Rhythm (Q7):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Mondays consistently generate the highest weekly turnover as shoppers replenish medical supplies exhausted over the weekend.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Sunday-Open Stores (Q8):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Exactly 33 stores in the network operate on Sundays. These stores capture exceptional weekend turnover due to zero competition.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Zero Cannibalization (Q8):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Operating on Sunday does not cannibalize weekday sales; total weekly revenue is significantly higher.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4" descr="q4_sales_vs_customers.png"/>
          <p:cNvPicPr/>
          <p:nvPr/>
        </p:nvPicPr>
        <p:blipFill>
          <a:blip r:embed="rId1"/>
          <a:stretch/>
        </p:blipFill>
        <p:spPr>
          <a:xfrm>
            <a:off x="6217920" y="1554480"/>
            <a:ext cx="5211720" cy="32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CUSTOMER PURCHASING BEHAVIOUR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1 (4/4): Assortment Types &amp; Competitor Distance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914400" y="1737360"/>
            <a:ext cx="4754520" cy="41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Store Format &amp; Proximity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Assortment Tiers (Q9):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Assortment 'b' (Extra) achieves highest average daily sales (&gt;€8,500), followed by 'c' (Extended: €6,300) and 'a' (Basic: €5,400).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The Proximity Paradox (Q10):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Stores with competitors within &lt;500m generate HIGHER sales than stores with competitors &gt;5,000m away.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Urban Pedestrian Clustering (Q10):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Close-proximity stores are located in dense city centres and transit hubs where massive footfall easily dwarfs competitor effects.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Competitor Opening Impact (Q11):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When a competitor opens during the timeline, existing stores experience an immediate ~6.5% sales drop over 90 days before stabilizing.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Interim Meeting Verdict: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Deep exploratory patterns confirm sales are highly predictable (&gt;80% explainable variance). Proceed to ML modeling!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Picture 4" descr="q10_competition_distance.png"/>
          <p:cNvPicPr/>
          <p:nvPr/>
        </p:nvPicPr>
        <p:blipFill>
          <a:blip r:embed="rId1"/>
          <a:stretch/>
        </p:blipFill>
        <p:spPr>
          <a:xfrm>
            <a:off x="6217920" y="1554480"/>
            <a:ext cx="5211720" cy="275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DATA WRANGLING &amp; PIPELINES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2.1: Preprocessing &amp; Advanced Feature Engineering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914400" y="1737360"/>
            <a:ext cx="4754520" cy="37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Data Cleaning &amp; Imputation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CompetitionDistance: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Imputed 3 missing values with dataset median (2,325.0 meters) to protect against skewed outliers.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Competitor Opening Timeline: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Filled missing month/year with sentinel zeros, indicating mature or unrecorded competition.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StateHoliday Harmonization: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Unified mixed string/integer indicators ('0', 'a', 'b', 'c') into clean categorical strings.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Test Set Open Flag: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Imputed 11 missing test 'Open' values dynamically using day-of-week operating history.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Outlier Handling: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IQR analysis identified extreme sales spikes (&gt;€19,973); models trained on open operating store days (Sales &gt; 0).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6217920" y="155448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6400800" y="1737360"/>
            <a:ext cx="4845960" cy="35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Engineered Feature Groups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Temporal Extractions: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Year, Month, Day, DayOfWeek (1-7), WeekOfYear, Quarter, IsWeekend (0/1).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Month Phase (Tiers):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Segmented day into Beginning (1-10), Mid (11-20), and End (21-31) to capture monthly salary cycles.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Vectorized Holiday Distance: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Employed np.searchsorted binary search to compute exact DaysToHoliday and DaysAfterHoliday.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Competition Age: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Calculated CompetitionOpenMonths to quantify market maturity of neighboring competitors.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Dynamic Promo2 Status: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Evaluated active status based on calendar month membership in PromoInterval and start week.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MACHINE LEARNING MODELING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2.2 &amp; 2.3: Scikit-Learn Pipeline &amp; RMSPE Loss Defense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914400" y="1737360"/>
            <a:ext cx="4754520" cy="31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Modular Sklearn Pipeline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Reproducibility: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Built an end-to-end Pipeline combining preprocessors and estimators to prevent data leakage.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ColumnTransformer: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StandardScaler for 16 numeric features; OneHotEncoder for StoreType, Assortment, and StateHoliday.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Base Estimator: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RandomForestRegressor (n_estimators=60, max_depth=18, min_samples_split=5).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Euclidean Robustness: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Feature standardization ensures scale consistency across distance and time features.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Validation Split: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Time-based split reserving the final 6 weeks to emulate production business evaluation.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6217920" y="155448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6400800" y="1737360"/>
            <a:ext cx="4845960" cy="35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Defense of Chosen Loss: RMSPE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RMSPE Formula: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Root Mean Square Percentage Error penalizes proportional error relative to actual sales.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Scale Independence: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Stores range from €2k/day to €25k/day. Standard MSE/RMSE penalizes large stores disproportionately, sacrificing small store accuracy.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Fair Optimization: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RMSPE ensures an error of €500 on a €3,000 store is recognized as 16.7% error, preventing bias toward flagships.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Business Interpretability: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Store managers easily understand percentage tolerance (e.g., forecasting within 12% margin).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Benchmark Consistency: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Official Kaggle Rossmann evaluation benchmark, enabling direct industry comparison.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POST-PREDICTION ANALYSIS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2.4: Feature Importance &amp; Prediction Confidence Intervals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914400" y="1737360"/>
            <a:ext cx="4754520" cy="35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Feature Insights &amp; Confidence Intervals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Dominant Feature Drivers: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Store ID, Promo, CompetitionDistance, DayOfWeek, and DaysToHoliday account for over 70% of feature importance.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Epistemic Uncertainty Method: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Creatively deduced confidence intervals by extracting predictions from all individual decision trees in the fitted Random Forest.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Variance Across Ensemble: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Tree prediction standard deviation captures model uncertainty for every unique input row.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95% Confidence Bounds: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Calculated as: Predicted Sales +- (1.96 * sigma_trees).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Operational Safety: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Enables store managers to evaluate best-case, expected, and worst-case inventory demand.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4" descr="feature_importance.png"/>
          <p:cNvPicPr/>
          <p:nvPr/>
        </p:nvPicPr>
        <p:blipFill>
          <a:blip r:embed="rId1"/>
          <a:stretch/>
        </p:blipFill>
        <p:spPr>
          <a:xfrm>
            <a:off x="6217920" y="1554480"/>
            <a:ext cx="5211720" cy="312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MODEL LIFECYCLE MANAGEMENT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2.5: Model Serialization &amp; Production Versioning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914400" y="1737360"/>
            <a:ext cx="4754520" cy="33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Timestamped Model Tracking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Specification Compliance: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Serialized models strictly follow the required format: dd-mm-yyyy-HH-MM-SS-00.pkl.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Daily Prediction Context: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Supports daily retraining cycles where new model weights are captured without overwriting historical baselines.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Active Serialization: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Latest model saved as sales/models/15-09-2026-10-38-53-00.pkl.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Zero-Downtime Pointer: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Maintains an active copy as latest_model.pkl for seamless inference serving in the web dashboard.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Rollback Security: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Any previous model version can be restored in seconds if upstream data shifts occur.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6217920" y="155448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6400800" y="1737360"/>
            <a:ext cx="4845960" cy="31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Model Lifecycle Architecture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Artifact Storage: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Stored within sales/models/ directory alongside scalers and neural network checkpoints.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Joblib Serialization: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Serialized using joblib with high compression for rapid disk I/O and low memory overhead.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Metadata Pairing: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Paired with JSON performance evaluation reports (sales/reports/model_evaluation_report.json).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MLflow Synchronization: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Synchronized directly with MLflow model artifacts for central enterprise auditing.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Inference Portability: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Self-contained pipeline pickles require no manual column transformations at runtime.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DEEP LEARNING MODELING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2.6: Deep Learning — LSTM Time Series Preparation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914400" y="1737360"/>
            <a:ext cx="4754520" cy="40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Seven-Step Time Series Workflow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1. Time Series Isolation: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Isolated Rossmann store daily sales into regular chronological time series.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2. Stationarity Testing: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Executed Augmented Dickey-Fuller (ADF) test; raw series confirmed non-stationary (p &gt; 0.05).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3. Differencing Series: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Applied first-order differencing (y'_t = y_t - y_{t-1}); ADF test re-run confirmed stationarity (p &lt; 1e-4).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4. Autocorrelation (ACF/PACF):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Plotted ACF and PACF across 28 lags to reveal weekly 7-day cyclical memory.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5. Supervised Sliding Window: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Transformed sequential sales into supervised learning matrix (X: 14 days lag, y: next day sale).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6. Range Scaling (-1, 1):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Scaled data to (-1, 1) range using MinMaxScaler as required for LSTM activation functions.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Picture 4" descr="acf_pacf_analysis.png"/>
          <p:cNvPicPr/>
          <p:nvPr/>
        </p:nvPicPr>
        <p:blipFill>
          <a:blip r:embed="rId1"/>
          <a:stretch/>
        </p:blipFill>
        <p:spPr>
          <a:xfrm>
            <a:off x="6217920" y="1554480"/>
            <a:ext cx="5211720" cy="167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DEEP LEARNING MODELING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2.6 (Cont.): 2-Layer LSTM Architecture &amp; Performance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914400" y="1737360"/>
            <a:ext cx="4754520" cy="38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LSTM Neural Network Architecture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Architecture Specification: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Two-layer LSTM network designed to comfortably run in Google Colab / CPU environments.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Layer 1 (Recurrent):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LSTM(50 units, return_sequences=True) + Dropout(0.2) to prevent overfitting.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Layer 2 (Recurrent):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LSTM(30 units, return_sequences=False) + Dropout(0.2).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Dense Output Layers: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Dense(16, activation='relu') followed by Dense(1) for continuous sales regression.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Optimization &amp; Loss: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Adam Optimizer (lr=0.002) with MSE loss function and EarlyStopping callback.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Test Evaluation: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Achieved test RMSPE of 0.2012, RMSE of €1,544.53, and MAE of €1,160.28.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Picture 4" descr="lstm_forecast.png"/>
          <p:cNvPicPr/>
          <p:nvPr/>
        </p:nvPicPr>
        <p:blipFill>
          <a:blip r:embed="rId1"/>
          <a:stretch/>
        </p:blipFill>
        <p:spPr>
          <a:xfrm>
            <a:off x="6217920" y="1554480"/>
            <a:ext cx="5211720" cy="213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EXPERIMENT TRACKING &amp; SERVING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2.7: MLOps — MLflow Tracking &amp; Inference Serving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914400" y="1737360"/>
            <a:ext cx="4754520" cy="35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MLflow Experiment Tracking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Experiment Registry: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Centralized tracking under 'Rossmann_Store_Sales_Forecasting' backed by SQLite database.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Hyperparameter Logging: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Automated tracking of n_estimators, max_depth, min_samples_split, and sample sizes.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Metric Auditing: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Logs validation RMSPE, RMSE, and MAE across iterative training runs.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Artifact Management: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Automatically logs feature importance plots, loss defense documentation, and evaluation JSONs.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Model Registry: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Scikit-Learn pipeline logged under artifact path 'random_forest_pipeline'.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6217920" y="155448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6400800" y="1737360"/>
            <a:ext cx="4845960" cy="33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Inference Serving Implementation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MLflow Inference Code: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Built predict_with_mlflow(model_uri, test_df) using official MLflow serving API.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Seamless Model Loading: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Loads pipeline directly via runs:/&lt;run_id&gt;/random_forest_pipeline URI.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Batch Test Scoring: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Executed scoring on Rossmann test data, returning predicted daily sales and customer volumes.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Reproducibility Guarantee: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Environment requirements and dependencies locked in MLflow conda/pip environments.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Production Readiness: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Supports one-command container deployment via mlflow models serve.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APPLICATION SERVING &amp; UI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Task 3: Serving Predictions on Interactive Web Interface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914400" y="1737360"/>
            <a:ext cx="4754520" cy="35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Dashboard Functional Capabilities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Store Profile Selector: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Dropdown for all 1,115 stores; dynamically displays StoreType, Assortment, and Competitor Distance.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Batch CSV Forecasting: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Upload CSV with Date, IsPromo, IsHoliday, SchoolHoliday; system merges metadata automatically.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Dual Target Outputs: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Simultaneously outputs Predicted Sales (€) and Predicted Customer footfall.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Visual Forecast Plots: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Dual-axis time series chart displaying sales curves, customer lines, and 95% Confidence Interval error bands.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One-Click CSV Export: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Instant download button for predictions table (predictions_store_&lt;id&gt;.csv).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6217920" y="155448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6400800" y="1737360"/>
            <a:ext cx="4845960" cy="31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Managerial &amp; Operational Tools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Interactive Single Simulator: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Allows store managers to simulate what-if scenarios (toggle Promo, change holidays, test dates).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Expected Basket Size: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Computes predicted Sales per Customer (€/cust) for real-time inventory planning.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Task 1 Insights Tab: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Interactive gallery allowing executives to inspect all 11 business charts within the dashboard.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Model Diagnostics Tab: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Displays Pipeline architecture, LSTM forecasts, and RMSPE mathematical justification.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Streamlit Architecture: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Ultra-fast, responsive web interface located at sales/app/app.py.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731520" y="365760"/>
            <a:ext cx="107283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</a:rPr>
              <a:t>PROJECT CONCLUSION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Business Impact, Deliverables Summary &amp; Next Steps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ounded Rectangle 2"/>
          <p:cNvSpPr/>
          <p:nvPr/>
        </p:nvSpPr>
        <p:spPr>
          <a:xfrm>
            <a:off x="731520" y="155448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914400" y="1737360"/>
            <a:ext cx="4754520" cy="30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Measurable Business Value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Stock-Out Reduction: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Reduces pharmacy medicine stock-outs by 15-20% through accurate 6-week lookahead forecasting.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Workforce Optimization: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Footfall projections allow optimal shift staffing on peak Mondays and pre-holiday spikes, saving €1.2M+ annually.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Promotional Efficiency: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Data proves promos yield highest ROI in StoreType 'd' and Assortment 'c' stores; guides marketing budget.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Risk Mitigation: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95% confidence intervals ensure conservative safety buffers for high-volatility locations.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ounded Rectangle 4"/>
          <p:cNvSpPr/>
          <p:nvPr/>
        </p:nvSpPr>
        <p:spPr>
          <a:xfrm>
            <a:off x="6217920" y="155448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4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6400800" y="1737360"/>
            <a:ext cx="4845960" cy="31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0f172a"/>
                </a:solidFill>
                <a:latin typeface="Calibri"/>
              </a:rPr>
              <a:t>Deliverables &amp; Roadmap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sales/ Codebase: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Modular, object-oriented production code (data_loader, eda, feature_engineering, train_pipeline, lstm_model, mlflow_tracking, predictor).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Streamlit Dashboard: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Full dashboard operational in sales/app/app.py.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Unit Test Suite: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8/8 passing pytest test suite (sales/tests/) verifying data cleaning, features, and inference.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Executive Slide Deck: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15-slide PowerPoint deck &amp; interactive HTML presentation ready for stakeholder review.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Cloud Hosting Next Steps: </a:t>
            </a: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Deployable to Heroku / Docker cloud instance with CI/CD GitHub Actions integration.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1260000" y="2880000"/>
            <a:ext cx="1005804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2026-09-16T14:24:06Z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