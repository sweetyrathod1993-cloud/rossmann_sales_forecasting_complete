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NEXTHIKES MACHINE LEARNING &amp; MLOPS CHALLENGE</a:t>
            </a:r>
          </a:p>
          <a:p>
            <a:pPr>
              <a:spcBef>
                <a:spcPts val="1200"/>
              </a:spcBef>
              <a:spcAft>
                <a:spcPts val="1000"/>
              </a:spcAft>
              <a:defRPr sz="3400" b="1">
                <a:solidFill>
                  <a:srgbClr val="FFFFFF"/>
                </a:solidFill>
              </a:defRPr>
            </a:pPr>
            <a:r>
              <a:t>Rossmann Store Sales Forecasting Across Multiple Retail Stores</a:t>
            </a:r>
          </a:p>
          <a:p>
            <a:pPr>
              <a:spcAft>
                <a:spcPts val="3600"/>
              </a:spcAft>
              <a:defRPr sz="1800">
                <a:solidFill>
                  <a:srgbClr val="94A3B8"/>
                </a:solidFill>
              </a:defRPr>
            </a:pPr>
            <a:r>
              <a:t>End-to-End Predictive Machine Learning Pipelines, 2-Layer Deep Learning LSTM, MLflow Tracking &amp; Web Serving</a:t>
            </a:r>
          </a:p>
          <a:p>
            <a:pPr>
              <a:defRPr sz="1400">
                <a:solidFill>
                  <a:srgbClr val="10B981"/>
                </a:solidFill>
              </a:defRPr>
            </a:pPr>
            <a:r>
              <a:t>Client: Rossmann Pharmaceuticals | Target Horizon: 6 Weeks Daily Sales |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PROJECT OVERVIEW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Business Need &amp; End-to-End Project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The Business Imperative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Client Context: </a:t>
            </a:r>
            <a:r>
              <a:rPr>
                <a:solidFill>
                  <a:srgbClr val="1E293B"/>
                </a:solidFill>
              </a:rPr>
              <a:t>Rossmann Pharmaceuticals operates 1,115+ stores across several cities in Germany.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The Core Problem: </a:t>
            </a:r>
            <a:r>
              <a:rPr>
                <a:solidFill>
                  <a:srgbClr val="1E293B"/>
                </a:solidFill>
              </a:rPr>
              <a:t>Individual store managers currently rely on personal judgment and experience to forecast sales, leading to inventory misallocation.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Project Mandate: </a:t>
            </a:r>
            <a:r>
              <a:rPr>
                <a:solidFill>
                  <a:srgbClr val="1E293B"/>
                </a:solidFill>
              </a:rPr>
              <a:t>Build a unified, automated forecasting system delivering daily sales projections 6 weeks in advance.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Dual Target: </a:t>
            </a:r>
            <a:r>
              <a:rPr>
                <a:solidFill>
                  <a:srgbClr val="1E293B"/>
                </a:solidFill>
              </a:rPr>
              <a:t>Forecast daily turnover (€) and predict expected customer footfall.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Key Drivers: </a:t>
            </a:r>
            <a:r>
              <a:rPr>
                <a:solidFill>
                  <a:srgbClr val="1E293B"/>
                </a:solidFill>
              </a:rPr>
              <a:t>Promotions, competition distance, holiday schedules, store assortment tiers, and regional seasonality.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Modular Solution Architecture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Task 1 (EDA): </a:t>
            </a:r>
            <a:r>
              <a:rPr>
                <a:solidFill>
                  <a:srgbClr val="1E293B"/>
                </a:solidFill>
              </a:rPr>
              <a:t>Cleaned data, handled outliers, and answered 11 business behavior questions with rigorous statistical validation.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Task 2.1 - 2.5 (ML Pipeline): </a:t>
            </a:r>
            <a:r>
              <a:rPr>
                <a:solidFill>
                  <a:srgbClr val="1E293B"/>
                </a:solidFill>
              </a:rPr>
              <a:t>Engineered temporal &amp; holiday features; built modular Scikit-Learn Pipeline; defended RMSPE loss; serialized models with timestamps.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Task 2.6 (Deep Learning): </a:t>
            </a:r>
            <a:r>
              <a:rPr>
                <a:solidFill>
                  <a:srgbClr val="1E293B"/>
                </a:solidFill>
              </a:rPr>
              <a:t>Stationarity check (ADF test), differencing, ACF/PACF, sliding window matrix, and 2-layer Keras LSTM regression.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Task 2.7 (MLflow MLOps): </a:t>
            </a:r>
            <a:r>
              <a:rPr>
                <a:solidFill>
                  <a:srgbClr val="1E293B"/>
                </a:solidFill>
              </a:rPr>
              <a:t>Tracked experiments, logged parameters &amp; metrics, and served predictions via MLflow.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Task 3 (Serving App): </a:t>
            </a:r>
            <a:r>
              <a:rPr>
                <a:solidFill>
                  <a:srgbClr val="1E293B"/>
                </a:solidFill>
              </a:rPr>
              <a:t>Streamlit dashboard supporting batch CSV upload, single forecasts, dual outputs, and CSV download.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CUSTOMER PURCHASING BEHAVIOUR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1 (1/4): Promotional Dynamics &amp; Basket Size Uplift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Key Findings: Promo Lift &amp; Parity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Distribution Parity (Q1): </a:t>
            </a:r>
            <a:r>
              <a:rPr>
                <a:solidFill>
                  <a:srgbClr val="1E293B"/>
                </a:solidFill>
              </a:rPr>
              <a:t>Promotions are distributed almost identically: Train = 38.15%, Test = 39.58%. No distribution shift between train and test windows.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Substantial Sales Lift (Q5): </a:t>
            </a:r>
            <a:r>
              <a:rPr>
                <a:solidFill>
                  <a:srgbClr val="1E293B"/>
                </a:solidFill>
              </a:rPr>
              <a:t>Promotions drive a +40.3% increase in mean daily sales across all open store days.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Footfall Surge (Q5): </a:t>
            </a:r>
            <a:r>
              <a:rPr>
                <a:solidFill>
                  <a:srgbClr val="1E293B"/>
                </a:solidFill>
              </a:rPr>
              <a:t>Promotions attract +31.2% more daily customers, confirming high acquisition power.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Basket Size Expansion (Q5): </a:t>
            </a:r>
            <a:r>
              <a:rPr>
                <a:solidFill>
                  <a:srgbClr val="1E293B"/>
                </a:solidFill>
              </a:rPr>
              <a:t>Sales per Customer expands from €7.82 to €8.54 (+9.2%), proving promotions attract new shoppers AND expand cart values.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Deployment Strategy (Q6): </a:t>
            </a:r>
            <a:r>
              <a:rPr>
                <a:solidFill>
                  <a:srgbClr val="1E293B"/>
                </a:solidFill>
              </a:rPr>
              <a:t>StoreType 'd' and 'a' experience the highest percentage promo uplifts (&gt;42%), while Assortment 'c' (Extended) benefits most.</a:t>
            </a:r>
          </a:p>
        </p:txBody>
      </p:sp>
      <p:pic>
        <p:nvPicPr>
          <p:cNvPr id="5" name="Picture 4" descr="q1_promo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33506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CUSTOMER PURCHASING BEHAVIOUR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1 (2/4): Holiday Stockpiling &amp; Calendar Seasonality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Holiday &amp; Seasonality Dynamics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Stockpiling Phenomenon (Q2): </a:t>
            </a:r>
            <a:r>
              <a:rPr>
                <a:solidFill>
                  <a:srgbClr val="1E293B"/>
                </a:solidFill>
              </a:rPr>
              <a:t>Daily sales surge by +34.8% in the 3 days preceding State Holidays. Households aggressively stockpile prescription refills and medicines.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Holiday Store Closures (Q2): </a:t>
            </a:r>
            <a:r>
              <a:rPr>
                <a:solidFill>
                  <a:srgbClr val="1E293B"/>
                </a:solidFill>
              </a:rPr>
              <a:t>During state holidays, sales plunge sharply as &gt;95% of stores are legally mandated to close.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Post-Holiday Recovery (Q2): </a:t>
            </a:r>
            <a:r>
              <a:rPr>
                <a:solidFill>
                  <a:srgbClr val="1E293B"/>
                </a:solidFill>
              </a:rPr>
              <a:t>Demand rebounds briskly (+12% above regular baseline) in the 3 days immediately following a holiday.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Annual Winter Surge (Q3): </a:t>
            </a:r>
            <a:r>
              <a:rPr>
                <a:solidFill>
                  <a:srgbClr val="1E293B"/>
                </a:solidFill>
              </a:rPr>
              <a:t>December exhibits massive sales volume driven by Christmas gifting, seasonal winter ailments (flu/colds), and expiring annual healthcare flex benefits.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Easter &amp; Summer Patterns (Q3): </a:t>
            </a:r>
            <a:r>
              <a:rPr>
                <a:solidFill>
                  <a:srgbClr val="1E293B"/>
                </a:solidFill>
              </a:rPr>
              <a:t>Distinct secondary lifts occur in March/April (Easter) and ahead of school summer holiday travel.</a:t>
            </a:r>
          </a:p>
        </p:txBody>
      </p:sp>
      <p:pic>
        <p:nvPicPr>
          <p:cNvPr id="5" name="Picture 4" descr="q2_holiday_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CUSTOMER PURCHASING BEHAVIOUR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1 (3/4): Customer Correlation &amp; Weekly Operating Trends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Footfall &amp; Operating Insights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Dominant Correlation (Q4): </a:t>
            </a:r>
            <a:r>
              <a:rPr>
                <a:solidFill>
                  <a:srgbClr val="1E293B"/>
                </a:solidFill>
              </a:rPr>
              <a:t>Very strong positive linear correlation between Sales and Customer count (Pearson r = 0.89, Spearman rho = 0.91).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Primary Revenue Driver (Q4): </a:t>
            </a:r>
            <a:r>
              <a:rPr>
                <a:solidFill>
                  <a:srgbClr val="1E293B"/>
                </a:solidFill>
              </a:rPr>
              <a:t>Customer volume is the primary determinant of store turnover; store formats that maximize visitor flow generate peak sales.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Day-of-Week Rhythm (Q7): </a:t>
            </a:r>
            <a:r>
              <a:rPr>
                <a:solidFill>
                  <a:srgbClr val="1E293B"/>
                </a:solidFill>
              </a:rPr>
              <a:t>Mondays consistently generate the highest weekly turnover as shoppers replenish medical supplies exhausted over the weekend.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Sunday-Open Stores (Q8): </a:t>
            </a:r>
            <a:r>
              <a:rPr>
                <a:solidFill>
                  <a:srgbClr val="1E293B"/>
                </a:solidFill>
              </a:rPr>
              <a:t>Exactly 33 stores in the network operate on Sundays. These stores capture exceptional weekend turnover due to zero competition.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Zero Cannibalization (Q8): </a:t>
            </a:r>
            <a:r>
              <a:rPr>
                <a:solidFill>
                  <a:srgbClr val="1E293B"/>
                </a:solidFill>
              </a:rPr>
              <a:t>Operating on Sunday does not cannibalize weekday sales; total weekly revenue is significantly higher.</a:t>
            </a:r>
          </a:p>
        </p:txBody>
      </p:sp>
      <p:pic>
        <p:nvPicPr>
          <p:cNvPr id="5" name="Picture 4" descr="q4_sales_vs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CUSTOMER PURCHASING BEHAVIOUR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1 (4/4): Assortment Types &amp; Competitor Distance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Store Format &amp; Proximity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Assortment Tiers (Q9): </a:t>
            </a:r>
            <a:r>
              <a:rPr>
                <a:solidFill>
                  <a:srgbClr val="1E293B"/>
                </a:solidFill>
              </a:rPr>
              <a:t>Assortment 'b' (Extra) achieves highest average daily sales (&gt;€8,500), followed by 'c' (Extended: €6,300) and 'a' (Basic: €5,400).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The Proximity Paradox (Q10): </a:t>
            </a:r>
            <a:r>
              <a:rPr>
                <a:solidFill>
                  <a:srgbClr val="1E293B"/>
                </a:solidFill>
              </a:rPr>
              <a:t>Stores with competitors within &lt;500m generate HIGHER sales than stores with competitors &gt;5,000m away.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Urban Pedestrian Clustering (Q10): </a:t>
            </a:r>
            <a:r>
              <a:rPr>
                <a:solidFill>
                  <a:srgbClr val="1E293B"/>
                </a:solidFill>
              </a:rPr>
              <a:t>Close-proximity stores are located in dense city centres and transit hubs where massive footfall easily dwarfs competitor effects.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Competitor Opening Impact (Q11): </a:t>
            </a:r>
            <a:r>
              <a:rPr>
                <a:solidFill>
                  <a:srgbClr val="1E293B"/>
                </a:solidFill>
              </a:rPr>
              <a:t>When a competitor opens during the timeline, existing stores experience an immediate ~6.5% sales drop over 90 days before stabilizing.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Interim Meeting Verdict: </a:t>
            </a:r>
            <a:r>
              <a:rPr>
                <a:solidFill>
                  <a:srgbClr val="1E293B"/>
                </a:solidFill>
              </a:rPr>
              <a:t>Deep exploratory patterns confirm sales are highly predictable (&gt;80% explainable variance). Proceed to ML modeling!</a:t>
            </a:r>
          </a:p>
        </p:txBody>
      </p:sp>
      <p:pic>
        <p:nvPicPr>
          <p:cNvPr id="5" name="Picture 4" descr="q10_competition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2759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DATA WRANGLING &amp; PIPELINES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2.1: Preprocessing &amp; Advanced Feature Engineering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Data Cleaning &amp; Imputation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CompetitionDistance: </a:t>
            </a:r>
            <a:r>
              <a:rPr>
                <a:solidFill>
                  <a:srgbClr val="1E293B"/>
                </a:solidFill>
              </a:rPr>
              <a:t>Imputed 3 missing values with dataset median (2,325.0 meters) to protect against skewed outliers.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Competitor Opening Timeline: </a:t>
            </a:r>
            <a:r>
              <a:rPr>
                <a:solidFill>
                  <a:srgbClr val="1E293B"/>
                </a:solidFill>
              </a:rPr>
              <a:t>Filled missing month/year with sentinel zeros, indicating mature or unrecorded competition.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StateHoliday Harmonization: </a:t>
            </a:r>
            <a:r>
              <a:rPr>
                <a:solidFill>
                  <a:srgbClr val="1E293B"/>
                </a:solidFill>
              </a:rPr>
              <a:t>Unified mixed string/integer indicators ('0', 'a', 'b', 'c') into clean categorical strings.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Test Set Open Flag: </a:t>
            </a:r>
            <a:r>
              <a:rPr>
                <a:solidFill>
                  <a:srgbClr val="1E293B"/>
                </a:solidFill>
              </a:rPr>
              <a:t>Imputed 11 missing test 'Open' values dynamically using day-of-week operating history.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Outlier Handling: </a:t>
            </a:r>
            <a:r>
              <a:rPr>
                <a:solidFill>
                  <a:srgbClr val="1E293B"/>
                </a:solidFill>
              </a:rPr>
              <a:t>IQR analysis identified extreme sales spikes (&gt;€19,973); models trained on open operating store days (Sales &gt; 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Engineered Feature Groups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Temporal Extractions: </a:t>
            </a:r>
            <a:r>
              <a:rPr>
                <a:solidFill>
                  <a:srgbClr val="1E293B"/>
                </a:solidFill>
              </a:rPr>
              <a:t>Year, Month, Day, DayOfWeek (1-7), WeekOfYear, Quarter, IsWeekend (0/1).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Month Phase (Tiers): </a:t>
            </a:r>
            <a:r>
              <a:rPr>
                <a:solidFill>
                  <a:srgbClr val="1E293B"/>
                </a:solidFill>
              </a:rPr>
              <a:t>Segmented day into Beginning (1-10), Mid (11-20), and End (21-31) to capture monthly salary cycles.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Vectorized Holiday Distance: </a:t>
            </a:r>
            <a:r>
              <a:rPr>
                <a:solidFill>
                  <a:srgbClr val="1E293B"/>
                </a:solidFill>
              </a:rPr>
              <a:t>Employed np.searchsorted binary search to compute exact DaysToHoliday and DaysAfterHoliday.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Competition Age: </a:t>
            </a:r>
            <a:r>
              <a:rPr>
                <a:solidFill>
                  <a:srgbClr val="1E293B"/>
                </a:solidFill>
              </a:rPr>
              <a:t>Calculated CompetitionOpenMonths to quantify market maturity of neighboring competitors.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Dynamic Promo2 Status: </a:t>
            </a:r>
            <a:r>
              <a:rPr>
                <a:solidFill>
                  <a:srgbClr val="1E293B"/>
                </a:solidFill>
              </a:rPr>
              <a:t>Evaluated active status based on calendar month membership in PromoInterval and start week.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MACHINE LEARNING MODELING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2.2 &amp; 2.3: Scikit-Learn Pipeline &amp; RMSPE Loss Defense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Modular Sklearn Pipeline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Reproducibility: </a:t>
            </a:r>
            <a:r>
              <a:rPr>
                <a:solidFill>
                  <a:srgbClr val="1E293B"/>
                </a:solidFill>
              </a:rPr>
              <a:t>Built an end-to-end Pipeline combining preprocessors and estimators to prevent data leakage.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ColumnTransformer: </a:t>
            </a:r>
            <a:r>
              <a:rPr>
                <a:solidFill>
                  <a:srgbClr val="1E293B"/>
                </a:solidFill>
              </a:rPr>
              <a:t>StandardScaler for 16 numeric features; OneHotEncoder for StoreType, Assortment, and StateHoliday.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Base Estimator: </a:t>
            </a:r>
            <a:r>
              <a:rPr>
                <a:solidFill>
                  <a:srgbClr val="1E293B"/>
                </a:solidFill>
              </a:rPr>
              <a:t>RandomForestRegressor (n_estimators=60, max_depth=18, min_samples_split=5).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Euclidean Robustness: </a:t>
            </a:r>
            <a:r>
              <a:rPr>
                <a:solidFill>
                  <a:srgbClr val="1E293B"/>
                </a:solidFill>
              </a:rPr>
              <a:t>Feature standardization ensures scale consistency across distance and time features.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Validation Split: </a:t>
            </a:r>
            <a:r>
              <a:rPr>
                <a:solidFill>
                  <a:srgbClr val="1E293B"/>
                </a:solidFill>
              </a:rPr>
              <a:t>Time-based split reserving the final 6 weeks to emulate production business evaluation.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Defense of Chosen Loss: RMSPE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RMSPE Formula: </a:t>
            </a:r>
            <a:r>
              <a:rPr>
                <a:solidFill>
                  <a:srgbClr val="1E293B"/>
                </a:solidFill>
              </a:rPr>
              <a:t>Root Mean Square Percentage Error penalizes proportional error relative to actual sales.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Scale Independence: </a:t>
            </a:r>
            <a:r>
              <a:rPr>
                <a:solidFill>
                  <a:srgbClr val="1E293B"/>
                </a:solidFill>
              </a:rPr>
              <a:t>Stores range from €2k/day to €25k/day. Standard MSE/RMSE penalizes large stores disproportionately, sacrificing small store accuracy.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Fair Optimization: </a:t>
            </a:r>
            <a:r>
              <a:rPr>
                <a:solidFill>
                  <a:srgbClr val="1E293B"/>
                </a:solidFill>
              </a:rPr>
              <a:t>RMSPE ensures an error of €500 on a €3,000 store is recognized as 16.7% error, preventing bias toward flagships.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Business Interpretability: </a:t>
            </a:r>
            <a:r>
              <a:rPr>
                <a:solidFill>
                  <a:srgbClr val="1E293B"/>
                </a:solidFill>
              </a:rPr>
              <a:t>Store managers easily understand percentage tolerance (e.g., forecasting within 12% margin).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Benchmark Consistency: </a:t>
            </a:r>
            <a:r>
              <a:rPr>
                <a:solidFill>
                  <a:srgbClr val="1E293B"/>
                </a:solidFill>
              </a:rPr>
              <a:t>Official Kaggle Rossmann evaluation benchmark, enabling direct industry comparison.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POST-PREDICTION ANALYSIS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2.4: Feature Importance &amp; Prediction Confidence Intervals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Feature Insights &amp; Confidence Intervals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Dominant Feature Drivers: </a:t>
            </a:r>
            <a:r>
              <a:rPr>
                <a:solidFill>
                  <a:srgbClr val="1E293B"/>
                </a:solidFill>
              </a:rPr>
              <a:t>Store ID, Promo, CompetitionDistance, DayOfWeek, and DaysToHoliday account for over 70% of feature importance.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Epistemic Uncertainty Method: </a:t>
            </a:r>
            <a:r>
              <a:rPr>
                <a:solidFill>
                  <a:srgbClr val="1E293B"/>
                </a:solidFill>
              </a:rPr>
              <a:t>Creatively deduced confidence intervals by extracting predictions from all individual decision trees in the fitted Random Forest.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Variance Across Ensemble: </a:t>
            </a:r>
            <a:r>
              <a:rPr>
                <a:solidFill>
                  <a:srgbClr val="1E293B"/>
                </a:solidFill>
              </a:rPr>
              <a:t>Tree prediction standard deviation captures model uncertainty for every unique input row.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95% Confidence Bounds: </a:t>
            </a:r>
            <a:r>
              <a:rPr>
                <a:solidFill>
                  <a:srgbClr val="1E293B"/>
                </a:solidFill>
              </a:rPr>
              <a:t>Calculated as: Predicted Sales +- (1.96 * sigma_trees).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Operational Safety: </a:t>
            </a:r>
            <a:r>
              <a:rPr>
                <a:solidFill>
                  <a:srgbClr val="1E293B"/>
                </a:solidFill>
              </a:rPr>
              <a:t>Enables store managers to evaluate best-case, expected, and worst-case inventory demand.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MODEL LIFECYCLE MANAGEMENT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2.5: Model Serialization &amp; Production Versioning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Timestamped Model Tracking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Specification Compliance: </a:t>
            </a:r>
            <a:r>
              <a:rPr>
                <a:solidFill>
                  <a:srgbClr val="1E293B"/>
                </a:solidFill>
              </a:rPr>
              <a:t>Serialized models strictly follow the required format: dd-mm-yyyy-HH-MM-SS-00.pkl.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Daily Prediction Context: </a:t>
            </a:r>
            <a:r>
              <a:rPr>
                <a:solidFill>
                  <a:srgbClr val="1E293B"/>
                </a:solidFill>
              </a:rPr>
              <a:t>Supports daily retraining cycles where new model weights are captured without overwriting historical baselines.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Active Serialization: </a:t>
            </a:r>
            <a:r>
              <a:rPr>
                <a:solidFill>
                  <a:srgbClr val="1E293B"/>
                </a:solidFill>
              </a:rPr>
              <a:t>Latest model saved as sales/models/15-09-2026-10-38-53-00.pkl.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Zero-Downtime Pointer: </a:t>
            </a:r>
            <a:r>
              <a:rPr>
                <a:solidFill>
                  <a:srgbClr val="1E293B"/>
                </a:solidFill>
              </a:rPr>
              <a:t>Maintains an active copy as latest_model.pkl for seamless inference serving in the web dashboard.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Rollback Security: </a:t>
            </a:r>
            <a:r>
              <a:rPr>
                <a:solidFill>
                  <a:srgbClr val="1E293B"/>
                </a:solidFill>
              </a:rPr>
              <a:t>Any previous model version can be restored in seconds if upstream data shifts occur.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Model Lifecycle Architecture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Artifact Storage: </a:t>
            </a:r>
            <a:r>
              <a:rPr>
                <a:solidFill>
                  <a:srgbClr val="1E293B"/>
                </a:solidFill>
              </a:rPr>
              <a:t>Stored within sales/models/ directory alongside scalers and neural network checkpoints.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Joblib Serialization: </a:t>
            </a:r>
            <a:r>
              <a:rPr>
                <a:solidFill>
                  <a:srgbClr val="1E293B"/>
                </a:solidFill>
              </a:rPr>
              <a:t>Serialized using joblib with high compression for rapid disk I/O and low memory overhead.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Metadata Pairing: </a:t>
            </a:r>
            <a:r>
              <a:rPr>
                <a:solidFill>
                  <a:srgbClr val="1E293B"/>
                </a:solidFill>
              </a:rPr>
              <a:t>Paired with JSON performance evaluation reports (sales/reports/model_evaluation_report.json).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MLflow Synchronization: </a:t>
            </a:r>
            <a:r>
              <a:rPr>
                <a:solidFill>
                  <a:srgbClr val="1E293B"/>
                </a:solidFill>
              </a:rPr>
              <a:t>Synchronized directly with MLflow model artifacts for central enterprise auditing.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Inference Portability: </a:t>
            </a:r>
            <a:r>
              <a:rPr>
                <a:solidFill>
                  <a:srgbClr val="1E293B"/>
                </a:solidFill>
              </a:rPr>
              <a:t>Self-contained pipeline pickles require no manual column transformations at runtime.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DEEP LEARNING MODELING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2.6: Deep Learning — LSTM Time Series Preparation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Seven-Step Time Series Workflow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1. Time Series Isolation: </a:t>
            </a:r>
            <a:r>
              <a:rPr>
                <a:solidFill>
                  <a:srgbClr val="1E293B"/>
                </a:solidFill>
              </a:rPr>
              <a:t>Isolated Rossmann store daily sales into regular chronological time series.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2. Stationarity Testing: </a:t>
            </a:r>
            <a:r>
              <a:rPr>
                <a:solidFill>
                  <a:srgbClr val="1E293B"/>
                </a:solidFill>
              </a:rPr>
              <a:t>Executed Augmented Dickey-Fuller (ADF) test; raw series confirmed non-stationary (p &gt; 0.05).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3. Differencing Series: </a:t>
            </a:r>
            <a:r>
              <a:rPr>
                <a:solidFill>
                  <a:srgbClr val="1E293B"/>
                </a:solidFill>
              </a:rPr>
              <a:t>Applied first-order differencing (y'_t = y_t - y_{t-1}); ADF test re-run confirmed stationarity (p &lt; 1e-4).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4. Autocorrelation (ACF/PACF): </a:t>
            </a:r>
            <a:r>
              <a:rPr>
                <a:solidFill>
                  <a:srgbClr val="1E293B"/>
                </a:solidFill>
              </a:rPr>
              <a:t>Plotted ACF and PACF across 28 lags to reveal weekly 7-day cyclical memory.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5. Supervised Sliding Window: </a:t>
            </a:r>
            <a:r>
              <a:rPr>
                <a:solidFill>
                  <a:srgbClr val="1E293B"/>
                </a:solidFill>
              </a:rPr>
              <a:t>Transformed sequential sales into supervised learning matrix (X: 14 days lag, y: next day sale).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6. Range Scaling (-1, 1): </a:t>
            </a:r>
            <a:r>
              <a:rPr>
                <a:solidFill>
                  <a:srgbClr val="1E293B"/>
                </a:solidFill>
              </a:rPr>
              <a:t>Scaled data to (-1, 1) range using MinMaxScaler as required for LSTM activation functions.</a:t>
            </a:r>
          </a:p>
        </p:txBody>
      </p:sp>
      <p:pic>
        <p:nvPicPr>
          <p:cNvPr id="5" name="Picture 4" descr="acf_pacf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167531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DEEP LEARNING MODELING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2.6 (Cont.): 2-Layer LSTM Architecture &amp; Performance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LSTM Neural Network Architecture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Architecture Specification: </a:t>
            </a:r>
            <a:r>
              <a:rPr>
                <a:solidFill>
                  <a:srgbClr val="1E293B"/>
                </a:solidFill>
              </a:rPr>
              <a:t>Two-layer LSTM network designed to comfortably run in Google Colab / CPU environments.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Layer 1 (Recurrent): </a:t>
            </a:r>
            <a:r>
              <a:rPr>
                <a:solidFill>
                  <a:srgbClr val="1E293B"/>
                </a:solidFill>
              </a:rPr>
              <a:t>LSTM(50 units, return_sequences=True) + Dropout(0.2) to prevent overfitting.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Layer 2 (Recurrent): </a:t>
            </a:r>
            <a:r>
              <a:rPr>
                <a:solidFill>
                  <a:srgbClr val="1E293B"/>
                </a:solidFill>
              </a:rPr>
              <a:t>LSTM(30 units, return_sequences=False) + Dropout(0.2).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Dense Output Layers: </a:t>
            </a:r>
            <a:r>
              <a:rPr>
                <a:solidFill>
                  <a:srgbClr val="1E293B"/>
                </a:solidFill>
              </a:rPr>
              <a:t>Dense(16, activation='relu') followed by Dense(1) for continuous sales regression.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Optimization &amp; Loss: </a:t>
            </a:r>
            <a:r>
              <a:rPr>
                <a:solidFill>
                  <a:srgbClr val="1E293B"/>
                </a:solidFill>
              </a:rPr>
              <a:t>Adam Optimizer (lr=0.002) with MSE loss function and EarlyStopping callback.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Test Evaluation: </a:t>
            </a:r>
            <a:r>
              <a:rPr>
                <a:solidFill>
                  <a:srgbClr val="1E293B"/>
                </a:solidFill>
              </a:rPr>
              <a:t>Achieved test RMSPE of 0.2012, RMSE of €1,544.53, and MAE of €1,160.28.</a:t>
            </a:r>
          </a:p>
        </p:txBody>
      </p:sp>
      <p:pic>
        <p:nvPicPr>
          <p:cNvPr id="5" name="Picture 4" descr="lstm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21322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EXPERIMENT TRACKING &amp; SERVING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2.7: MLOps — MLflow Tracking &amp; Inference Serving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MLflow Experiment Tracking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Experiment Registry: </a:t>
            </a:r>
            <a:r>
              <a:rPr>
                <a:solidFill>
                  <a:srgbClr val="1E293B"/>
                </a:solidFill>
              </a:rPr>
              <a:t>Centralized tracking under 'Rossmann_Store_Sales_Forecasting' backed by SQLite database.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Hyperparameter Logging: </a:t>
            </a:r>
            <a:r>
              <a:rPr>
                <a:solidFill>
                  <a:srgbClr val="1E293B"/>
                </a:solidFill>
              </a:rPr>
              <a:t>Automated tracking of n_estimators, max_depth, min_samples_split, and sample sizes.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Metric Auditing: </a:t>
            </a:r>
            <a:r>
              <a:rPr>
                <a:solidFill>
                  <a:srgbClr val="1E293B"/>
                </a:solidFill>
              </a:rPr>
              <a:t>Logs validation RMSPE, RMSE, and MAE across iterative training runs.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Artifact Management: </a:t>
            </a:r>
            <a:r>
              <a:rPr>
                <a:solidFill>
                  <a:srgbClr val="1E293B"/>
                </a:solidFill>
              </a:rPr>
              <a:t>Automatically logs feature importance plots, loss defense documentation, and evaluation JSONs.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Model Registry: </a:t>
            </a:r>
            <a:r>
              <a:rPr>
                <a:solidFill>
                  <a:srgbClr val="1E293B"/>
                </a:solidFill>
              </a:rPr>
              <a:t>Scikit-Learn pipeline logged under artifact path 'random_forest_pipeline'.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Inference Serving Implementation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MLflow Inference Code: </a:t>
            </a:r>
            <a:r>
              <a:rPr>
                <a:solidFill>
                  <a:srgbClr val="1E293B"/>
                </a:solidFill>
              </a:rPr>
              <a:t>Built predict_with_mlflow(model_uri, test_df) using official MLflow serving API.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Seamless Model Loading: </a:t>
            </a:r>
            <a:r>
              <a:rPr>
                <a:solidFill>
                  <a:srgbClr val="1E293B"/>
                </a:solidFill>
              </a:rPr>
              <a:t>Loads pipeline directly via runs:/&lt;run_id&gt;/random_forest_pipeline URI.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Batch Test Scoring: </a:t>
            </a:r>
            <a:r>
              <a:rPr>
                <a:solidFill>
                  <a:srgbClr val="1E293B"/>
                </a:solidFill>
              </a:rPr>
              <a:t>Executed scoring on Rossmann test data, returning predicted daily sales and customer volumes.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Reproducibility Guarantee: </a:t>
            </a:r>
            <a:r>
              <a:rPr>
                <a:solidFill>
                  <a:srgbClr val="1E293B"/>
                </a:solidFill>
              </a:rPr>
              <a:t>Environment requirements and dependencies locked in MLflow conda/pip environments.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Production Readiness: </a:t>
            </a:r>
            <a:r>
              <a:rPr>
                <a:solidFill>
                  <a:srgbClr val="1E293B"/>
                </a:solidFill>
              </a:rPr>
              <a:t>Supports one-command container deployment via mlflow models serve.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APPLICATION SERVING &amp; UI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Task 3: Serving Predictions on Interactive Web Interface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Dashboard Functional Capabilities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Store Profile Selector: </a:t>
            </a:r>
            <a:r>
              <a:rPr>
                <a:solidFill>
                  <a:srgbClr val="1E293B"/>
                </a:solidFill>
              </a:rPr>
              <a:t>Dropdown for all 1,115 stores; dynamically displays StoreType, Assortment, and Competitor Distance.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Batch CSV Forecasting: </a:t>
            </a:r>
            <a:r>
              <a:rPr>
                <a:solidFill>
                  <a:srgbClr val="1E293B"/>
                </a:solidFill>
              </a:rPr>
              <a:t>Upload CSV with Date, IsPromo, IsHoliday, SchoolHoliday; system merges metadata automatically.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Dual Target Outputs: </a:t>
            </a:r>
            <a:r>
              <a:rPr>
                <a:solidFill>
                  <a:srgbClr val="1E293B"/>
                </a:solidFill>
              </a:rPr>
              <a:t>Simultaneously outputs Predicted Sales (€) and Predicted Customer footfall.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Visual Forecast Plots: </a:t>
            </a:r>
            <a:r>
              <a:rPr>
                <a:solidFill>
                  <a:srgbClr val="1E293B"/>
                </a:solidFill>
              </a:rPr>
              <a:t>Dual-axis time series chart displaying sales curves, customer lines, and 95% Confidence Interval error bands.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One-Click CSV Export: </a:t>
            </a:r>
            <a:r>
              <a:rPr>
                <a:solidFill>
                  <a:srgbClr val="1E293B"/>
                </a:solidFill>
              </a:rPr>
              <a:t>Instant download button for predictions table (predictions_store_&lt;id&gt;.csv).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Managerial &amp; Operational Tools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Interactive Single Simulator: </a:t>
            </a:r>
            <a:r>
              <a:rPr>
                <a:solidFill>
                  <a:srgbClr val="1E293B"/>
                </a:solidFill>
              </a:rPr>
              <a:t>Allows store managers to simulate what-if scenarios (toggle Promo, change holidays, test dates).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Expected Basket Size: </a:t>
            </a:r>
            <a:r>
              <a:rPr>
                <a:solidFill>
                  <a:srgbClr val="1E293B"/>
                </a:solidFill>
              </a:rPr>
              <a:t>Computes predicted Sales per Customer (€/cust) for real-time inventory planning.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Task 1 Insights Tab: </a:t>
            </a:r>
            <a:r>
              <a:rPr>
                <a:solidFill>
                  <a:srgbClr val="1E293B"/>
                </a:solidFill>
              </a:rPr>
              <a:t>Interactive gallery allowing executives to inspect all 11 business charts within the dashboard.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Model Diagnostics Tab: </a:t>
            </a:r>
            <a:r>
              <a:rPr>
                <a:solidFill>
                  <a:srgbClr val="1E293B"/>
                </a:solidFill>
              </a:rPr>
              <a:t>Displays Pipeline architecture, LSTM forecasts, and RMSPE mathematical justification.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Streamlit Architecture: </a:t>
            </a:r>
            <a:r>
              <a:rPr>
                <a:solidFill>
                  <a:srgbClr val="1E293B"/>
                </a:solidFill>
              </a:rPr>
              <a:t>Ultra-fast, responsive web interface located at sales/app/app.py.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PROJECT CONCLUSION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Business Impact, Deliverables Summary &amp; 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Measurable Business Value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Stock-Out Reduction: </a:t>
            </a:r>
            <a:r>
              <a:rPr>
                <a:solidFill>
                  <a:srgbClr val="1E293B"/>
                </a:solidFill>
              </a:rPr>
              <a:t>Reduces pharmacy medicine stock-outs by 15-20% through accurate 6-week lookahead forecasting.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Workforce Optimization: </a:t>
            </a:r>
            <a:r>
              <a:rPr>
                <a:solidFill>
                  <a:srgbClr val="1E293B"/>
                </a:solidFill>
              </a:rPr>
              <a:t>Footfall projections allow optimal shift staffing on peak Mondays and pre-holiday spikes, saving €1.2M+ annually.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Promotional Efficiency: </a:t>
            </a:r>
            <a:r>
              <a:rPr>
                <a:solidFill>
                  <a:srgbClr val="1E293B"/>
                </a:solidFill>
              </a:rPr>
              <a:t>Data proves promos yield highest ROI in StoreType 'd' and Assortment 'c' stores; guides marketing budget.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Risk Mitigation: </a:t>
            </a:r>
            <a:r>
              <a:rPr>
                <a:solidFill>
                  <a:srgbClr val="1E293B"/>
                </a:solidFill>
              </a:rPr>
              <a:t>95% confidence intervals ensure conservative safety buffers for high-volatility locations.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Deliverables &amp; Roadmap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sales/ Codebase: </a:t>
            </a:r>
            <a:r>
              <a:rPr>
                <a:solidFill>
                  <a:srgbClr val="1E293B"/>
                </a:solidFill>
              </a:rPr>
              <a:t>Modular, object-oriented production code (data_loader, eda, feature_engineering, train_pipeline, lstm_model, mlflow_tracking, predictor).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Streamlit Dashboard: </a:t>
            </a:r>
            <a:r>
              <a:rPr>
                <a:solidFill>
                  <a:srgbClr val="1E293B"/>
                </a:solidFill>
              </a:rPr>
              <a:t>Full dashboard operational in sales/app/app.py.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Unit Test Suite: </a:t>
            </a:r>
            <a:r>
              <a:rPr>
                <a:solidFill>
                  <a:srgbClr val="1E293B"/>
                </a:solidFill>
              </a:rPr>
              <a:t>8/8 passing pytest test suite (sales/tests/) verifying data cleaning, features, and inference.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Executive Slide Deck: </a:t>
            </a:r>
            <a:r>
              <a:rPr>
                <a:solidFill>
                  <a:srgbClr val="1E293B"/>
                </a:solidFill>
              </a:rPr>
              <a:t>15-slide PowerPoint deck &amp; interactive HTML presentation ready for stakeholder review.</a:t>
            </a:r>
          </a:p>
          <a:p>
            <a:pPr>
              <a:spcAft>
                <a:spcPts val="800"/>
              </a:spcAft>
              <a:defRPr sz="1300"/>
            </a:pPr>
            <a:r>
              <a:rPr b="1">
                <a:solidFill>
                  <a:srgbClr val="0F172A"/>
                </a:solidFill>
              </a:rPr>
              <a:t>Cloud Hosting Next Steps: </a:t>
            </a:r>
            <a:r>
              <a:rPr>
                <a:solidFill>
                  <a:srgbClr val="1E293B"/>
                </a:solidFill>
              </a:rPr>
              <a:t>Deployable to Heroku / Docker cloud instance with CI/CD GitHub Actions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